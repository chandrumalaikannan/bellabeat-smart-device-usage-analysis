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4660"/>
  </p:normalViewPr>
  <p:slideViewPr>
    <p:cSldViewPr snapToGrid="0">
      <p:cViewPr varScale="1">
        <p:scale>
          <a:sx n="64" d="100"/>
          <a:sy n="64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andru\Documents\Casestudy_Files\mturkfitbit_export_3.12.16-4.11.16\Fitabase%20Data%203.12.16-4.11.16\dailyActivity_merged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andru\Documents\Casestudy_Files\mturkfitbit_export_3.12.16-4.11.16\Fitabase%20Data%203.12.16-4.11.16\dailyActivity_merged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andru\Documents\Casestudy_Files\mturkfitbit_export_3.12.16-4.11.16\Fitabase%20Data%203.12.16-4.11.16\dailyActivity_merged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andru\Documents\Casestudy_Files\mturkfitbit_export_3.12.16-4.11.16\Fitabase%20Data%203.12.16-4.11.16\dailyActivity_merged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[dailyActivity_merged.csv]Pivot!PivotTable1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pPr>
            <a:r>
              <a:rPr lang="en-US" sz="1400" b="1" i="0" u="none" strike="noStrike" baseline="0">
                <a:solidFill>
                  <a:sysClr val="windowText" lastClr="000000"/>
                </a:solidFill>
                <a:latin typeface="+mj-lt"/>
              </a:rPr>
              <a:t>Distribution of Recorded Activity Days</a:t>
            </a:r>
            <a:endParaRPr lang="en-US" b="1">
              <a:solidFill>
                <a:sysClr val="windowText" lastClr="000000"/>
              </a:solidFill>
              <a:latin typeface="+mj-lt"/>
            </a:endParaRPr>
          </a:p>
        </c:rich>
      </c:tx>
      <c:layout>
        <c:manualLayout>
          <c:xMode val="edge"/>
          <c:yMode val="edge"/>
          <c:x val="0.21227777777777779"/>
          <c:y val="4.62962962962962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2.7777777777777776E-2"/>
              <c:y val="-3.206073199183443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3.0555555555555555E-2"/>
              <c:y val="-2.69670457859434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2.4999999999999897E-2"/>
              <c:y val="-3.673337707786526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3.0555555555555555E-2"/>
              <c:y val="-2.69670457859434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2.7777777777777776E-2"/>
              <c:y val="-3.206073199183443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2.4999999999999897E-2"/>
              <c:y val="-3.673337707786526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3.0555555555555555E-2"/>
              <c:y val="-2.69670457859434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2.7777777777777776E-2"/>
              <c:y val="-3.206073199183443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/>
          </a:solidFill>
          <a:ln>
            <a:noFill/>
          </a:ln>
          <a:effectLst/>
          <a:sp3d/>
        </c:spPr>
        <c:dLbl>
          <c:idx val="0"/>
          <c:layout>
            <c:manualLayout>
              <c:x val="2.4999999999999897E-2"/>
              <c:y val="-3.673337707786526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1731714785651794"/>
          <c:y val="0.16708333333333336"/>
          <c:w val="0.85212729658792652"/>
          <c:h val="0.72125801983085447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Pivot!$B$3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3.0555555555555555E-2"/>
                  <c:y val="-2.69670457859434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A4-462C-928D-D10C382A8A55}"/>
                </c:ext>
              </c:extLst>
            </c:dLbl>
            <c:dLbl>
              <c:idx val="1"/>
              <c:layout>
                <c:manualLayout>
                  <c:x val="2.7777777777777776E-2"/>
                  <c:y val="-3.20607319918344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DA4-462C-928D-D10C382A8A55}"/>
                </c:ext>
              </c:extLst>
            </c:dLbl>
            <c:dLbl>
              <c:idx val="2"/>
              <c:layout>
                <c:manualLayout>
                  <c:x val="2.4999999999999897E-2"/>
                  <c:y val="-3.67333770778652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A4-462C-928D-D10C382A8A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Pivot!$A$4:$A$7</c:f>
              <c:strCache>
                <c:ptCount val="3"/>
                <c:pt idx="0">
                  <c:v>Low</c:v>
                </c:pt>
                <c:pt idx="1">
                  <c:v>Moderate</c:v>
                </c:pt>
                <c:pt idx="2">
                  <c:v>High</c:v>
                </c:pt>
              </c:strCache>
            </c:strRef>
          </c:cat>
          <c:val>
            <c:numRef>
              <c:f>Pivot!$B$4:$B$7</c:f>
              <c:numCache>
                <c:formatCode>0.00%</c:formatCode>
                <c:ptCount val="3"/>
                <c:pt idx="0">
                  <c:v>0.4310722100656455</c:v>
                </c:pt>
                <c:pt idx="1">
                  <c:v>0.29102844638949671</c:v>
                </c:pt>
                <c:pt idx="2">
                  <c:v>0.27789934354485779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DA4-462C-928D-D10C382A8A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298272975"/>
        <c:axId val="183781296"/>
        <c:axId val="0"/>
      </c:bar3DChart>
      <c:catAx>
        <c:axId val="1298272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781296"/>
        <c:crosses val="autoZero"/>
        <c:auto val="1"/>
        <c:lblAlgn val="ctr"/>
        <c:lblOffset val="100"/>
        <c:noMultiLvlLbl val="0"/>
      </c:catAx>
      <c:valAx>
        <c:axId val="18378129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8272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pPr>
            <a:r>
              <a:rPr lang="en-US" sz="1400" b="1" i="0" u="none" strike="noStrike" baseline="0">
                <a:solidFill>
                  <a:sysClr val="windowText" lastClr="000000"/>
                </a:solidFill>
                <a:latin typeface="+mj-lt"/>
              </a:rPr>
              <a:t>Average Steps by Hour of the Day</a:t>
            </a:r>
            <a:endParaRPr lang="en-US" b="1">
              <a:solidFill>
                <a:sysClr val="windowText" lastClr="000000"/>
              </a:solidFill>
              <a:latin typeface="+mj-lt"/>
            </a:endParaRPr>
          </a:p>
        </c:rich>
      </c:tx>
      <c:layout>
        <c:manualLayout>
          <c:xMode val="edge"/>
          <c:yMode val="edge"/>
          <c:x val="0.30752393360901831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rgbClr val="00B0F0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"/>
        <c:spPr>
          <a:solidFill>
            <a:schemeClr val="accent1"/>
          </a:solidFill>
          <a:ln w="28575" cap="rnd">
            <a:solidFill>
              <a:srgbClr val="00B0F0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00B0F0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noFill/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Lit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strLit>
          </c:cat>
          <c:val>
            <c:numLit>
              <c:formatCode>General</c:formatCode>
              <c:ptCount val="24"/>
              <c:pt idx="0">
                <c:v>44.421155729676791</c:v>
              </c:pt>
              <c:pt idx="1">
                <c:v>20.484818805093045</c:v>
              </c:pt>
              <c:pt idx="2">
                <c:v>10.588638589618022</c:v>
              </c:pt>
              <c:pt idx="3">
                <c:v>7.31207065750736</c:v>
              </c:pt>
              <c:pt idx="4">
                <c:v>9.7554027504911591</c:v>
              </c:pt>
              <c:pt idx="5">
                <c:v>26.113077679449361</c:v>
              </c:pt>
              <c:pt idx="6">
                <c:v>120.16437007874016</c:v>
              </c:pt>
              <c:pt idx="7">
                <c:v>267.12031558185402</c:v>
              </c:pt>
              <c:pt idx="8">
                <c:v>365.59643916913944</c:v>
              </c:pt>
              <c:pt idx="9">
                <c:v>430.25841584158417</c:v>
              </c:pt>
              <c:pt idx="10">
                <c:v>437.00499500499501</c:v>
              </c:pt>
              <c:pt idx="11">
                <c:v>452.74523570712137</c:v>
              </c:pt>
              <c:pt idx="12">
                <c:v>520.94477911646584</c:v>
              </c:pt>
              <c:pt idx="13">
                <c:v>457.88253012048193</c:v>
              </c:pt>
              <c:pt idx="14">
                <c:v>474.12449799196787</c:v>
              </c:pt>
              <c:pt idx="15">
                <c:v>390.46934673366832</c:v>
              </c:pt>
              <c:pt idx="16">
                <c:v>447.36683417085425</c:v>
              </c:pt>
              <c:pt idx="17">
                <c:v>453.6639839034205</c:v>
              </c:pt>
              <c:pt idx="18">
                <c:v>505.64652567975833</c:v>
              </c:pt>
              <c:pt idx="19">
                <c:v>528.87814702920446</c:v>
              </c:pt>
              <c:pt idx="20">
                <c:v>399.3178607467205</c:v>
              </c:pt>
              <c:pt idx="21">
                <c:v>261.00908173562061</c:v>
              </c:pt>
              <c:pt idx="22">
                <c:v>172.98383838383839</c:v>
              </c:pt>
              <c:pt idx="23">
                <c:v>102.90182186234817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D95-47D1-9C2E-56C3D4F5AF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94974223"/>
        <c:axId val="1851640831"/>
      </c:lineChart>
      <c:catAx>
        <c:axId val="1994974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1640831"/>
        <c:crosses val="autoZero"/>
        <c:auto val="1"/>
        <c:lblAlgn val="ctr"/>
        <c:lblOffset val="100"/>
        <c:noMultiLvlLbl val="0"/>
      </c:catAx>
      <c:valAx>
        <c:axId val="1851640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49742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solidFill>
                  <a:sysClr val="windowText" lastClr="000000"/>
                </a:solidFill>
                <a:latin typeface="+mj-lt"/>
              </a:rPr>
              <a:t>Low-Activity Records by Weekday</a:t>
            </a:r>
            <a:endParaRPr lang="en-US" b="1">
              <a:solidFill>
                <a:sysClr val="windowText" lastClr="000000"/>
              </a:solidFill>
              <a:latin typeface="+mj-lt"/>
            </a:endParaRPr>
          </a:p>
        </c:rich>
      </c:tx>
      <c:layout>
        <c:manualLayout>
          <c:xMode val="edge"/>
          <c:yMode val="edge"/>
          <c:x val="0.23168044619422573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55921604725978E-2"/>
          <c:y val="0.13321125034712483"/>
          <c:w val="0.89430153930540701"/>
          <c:h val="0.7896625607078279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Pivot!$A$27:$A$33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Pivot!$B$27:$B$33</c:f>
              <c:numCache>
                <c:formatCode>0%</c:formatCode>
                <c:ptCount val="7"/>
                <c:pt idx="0">
                  <c:v>0.5</c:v>
                </c:pt>
                <c:pt idx="1">
                  <c:v>0.38235294117647056</c:v>
                </c:pt>
                <c:pt idx="2">
                  <c:v>0.52054794520547942</c:v>
                </c:pt>
                <c:pt idx="3">
                  <c:v>0.3125</c:v>
                </c:pt>
                <c:pt idx="4">
                  <c:v>0.39583333333333331</c:v>
                </c:pt>
                <c:pt idx="5">
                  <c:v>0.38356164383561642</c:v>
                </c:pt>
                <c:pt idx="6">
                  <c:v>0.46666666666666667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93-4B3F-9809-84AE8A46CF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2"/>
        <c:overlap val="-27"/>
        <c:axId val="1460513471"/>
        <c:axId val="183748656"/>
      </c:barChart>
      <c:catAx>
        <c:axId val="1460513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748656"/>
        <c:crosses val="autoZero"/>
        <c:auto val="1"/>
        <c:lblAlgn val="ctr"/>
        <c:lblOffset val="100"/>
        <c:noMultiLvlLbl val="0"/>
      </c:catAx>
      <c:valAx>
        <c:axId val="18374865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0513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[dailyActivity_merged.csv]Pivot!PivotTable5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solidFill>
                  <a:sysClr val="windowText" lastClr="000000"/>
                </a:solidFill>
                <a:latin typeface="+mj-lt"/>
              </a:rPr>
              <a:t>Daily Average Steps Over Time</a:t>
            </a:r>
            <a:endParaRPr lang="en-US" b="1">
              <a:solidFill>
                <a:sysClr val="windowText" lastClr="000000"/>
              </a:solidFill>
              <a:latin typeface="+mj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rgbClr val="00B0F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F0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rgbClr val="00B0F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rgbClr val="00B0F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Pivot!$B$43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strRef>
              <c:f>Pivot!$A$44:$A$76</c:f>
              <c:strCache>
                <c:ptCount val="32"/>
                <c:pt idx="0">
                  <c:v>12-Mar</c:v>
                </c:pt>
                <c:pt idx="1">
                  <c:v>13-Mar</c:v>
                </c:pt>
                <c:pt idx="2">
                  <c:v>14-Mar</c:v>
                </c:pt>
                <c:pt idx="3">
                  <c:v>15-Mar</c:v>
                </c:pt>
                <c:pt idx="4">
                  <c:v>16-Mar</c:v>
                </c:pt>
                <c:pt idx="5">
                  <c:v>17-Mar</c:v>
                </c:pt>
                <c:pt idx="6">
                  <c:v>18-Mar</c:v>
                </c:pt>
                <c:pt idx="7">
                  <c:v>19-Mar</c:v>
                </c:pt>
                <c:pt idx="8">
                  <c:v>20-Mar</c:v>
                </c:pt>
                <c:pt idx="9">
                  <c:v>21-Mar</c:v>
                </c:pt>
                <c:pt idx="10">
                  <c:v>22-Mar</c:v>
                </c:pt>
                <c:pt idx="11">
                  <c:v>23-Mar</c:v>
                </c:pt>
                <c:pt idx="12">
                  <c:v>24-Mar</c:v>
                </c:pt>
                <c:pt idx="13">
                  <c:v>25-Mar</c:v>
                </c:pt>
                <c:pt idx="14">
                  <c:v>26-Mar</c:v>
                </c:pt>
                <c:pt idx="15">
                  <c:v>27-Mar</c:v>
                </c:pt>
                <c:pt idx="16">
                  <c:v>28-Mar</c:v>
                </c:pt>
                <c:pt idx="17">
                  <c:v>29-Mar</c:v>
                </c:pt>
                <c:pt idx="18">
                  <c:v>30-Mar</c:v>
                </c:pt>
                <c:pt idx="19">
                  <c:v>31-Mar</c:v>
                </c:pt>
                <c:pt idx="20">
                  <c:v>1-Apr</c:v>
                </c:pt>
                <c:pt idx="21">
                  <c:v>2-Apr</c:v>
                </c:pt>
                <c:pt idx="22">
                  <c:v>3-Apr</c:v>
                </c:pt>
                <c:pt idx="23">
                  <c:v>4-Apr</c:v>
                </c:pt>
                <c:pt idx="24">
                  <c:v>5-Apr</c:v>
                </c:pt>
                <c:pt idx="25">
                  <c:v>6-Apr</c:v>
                </c:pt>
                <c:pt idx="26">
                  <c:v>7-Apr</c:v>
                </c:pt>
                <c:pt idx="27">
                  <c:v>8-Apr</c:v>
                </c:pt>
                <c:pt idx="28">
                  <c:v>9-Apr</c:v>
                </c:pt>
                <c:pt idx="29">
                  <c:v>10-Apr</c:v>
                </c:pt>
                <c:pt idx="30">
                  <c:v>11-Apr</c:v>
                </c:pt>
                <c:pt idx="31">
                  <c:v>12-Apr</c:v>
                </c:pt>
              </c:strCache>
            </c:strRef>
          </c:cat>
          <c:val>
            <c:numRef>
              <c:f>Pivot!$B$44:$B$76</c:f>
              <c:numCache>
                <c:formatCode>General</c:formatCode>
                <c:ptCount val="32"/>
                <c:pt idx="0">
                  <c:v>2771.5</c:v>
                </c:pt>
                <c:pt idx="1">
                  <c:v>1613</c:v>
                </c:pt>
                <c:pt idx="2">
                  <c:v>5728</c:v>
                </c:pt>
                <c:pt idx="3">
                  <c:v>2953</c:v>
                </c:pt>
                <c:pt idx="4">
                  <c:v>7311</c:v>
                </c:pt>
                <c:pt idx="5">
                  <c:v>4470</c:v>
                </c:pt>
                <c:pt idx="6">
                  <c:v>658.5</c:v>
                </c:pt>
                <c:pt idx="7">
                  <c:v>2851</c:v>
                </c:pt>
                <c:pt idx="8">
                  <c:v>5187</c:v>
                </c:pt>
                <c:pt idx="9">
                  <c:v>5719</c:v>
                </c:pt>
                <c:pt idx="10">
                  <c:v>6111.5</c:v>
                </c:pt>
                <c:pt idx="11">
                  <c:v>6774</c:v>
                </c:pt>
                <c:pt idx="12">
                  <c:v>979</c:v>
                </c:pt>
                <c:pt idx="13">
                  <c:v>4594.25</c:v>
                </c:pt>
                <c:pt idx="14">
                  <c:v>5698.5</c:v>
                </c:pt>
                <c:pt idx="15">
                  <c:v>6035</c:v>
                </c:pt>
                <c:pt idx="16">
                  <c:v>4312.5</c:v>
                </c:pt>
                <c:pt idx="17">
                  <c:v>4760.6000000000004</c:v>
                </c:pt>
                <c:pt idx="18">
                  <c:v>6246.727272727273</c:v>
                </c:pt>
                <c:pt idx="19">
                  <c:v>5905.272727272727</c:v>
                </c:pt>
                <c:pt idx="20">
                  <c:v>6496.5588235294117</c:v>
                </c:pt>
                <c:pt idx="21">
                  <c:v>7345.9428571428571</c:v>
                </c:pt>
                <c:pt idx="22">
                  <c:v>6178.2285714285717</c:v>
                </c:pt>
                <c:pt idx="23">
                  <c:v>7345.3142857142857</c:v>
                </c:pt>
                <c:pt idx="24">
                  <c:v>7165</c:v>
                </c:pt>
                <c:pt idx="25">
                  <c:v>7988.787878787879</c:v>
                </c:pt>
                <c:pt idx="26">
                  <c:v>7660.727272727273</c:v>
                </c:pt>
                <c:pt idx="27">
                  <c:v>7614.090909090909</c:v>
                </c:pt>
                <c:pt idx="28">
                  <c:v>7518.3125</c:v>
                </c:pt>
                <c:pt idx="29">
                  <c:v>6282.7241379310344</c:v>
                </c:pt>
                <c:pt idx="30">
                  <c:v>7473.36</c:v>
                </c:pt>
                <c:pt idx="31">
                  <c:v>1761.625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1D-4609-9846-6D523561C0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upDownBars>
          <c:gapWidth val="150"/>
          <c:upBars>
            <c:spPr>
              <a:solidFill>
                <a:schemeClr val="lt1"/>
              </a:solidFill>
              <a:ln w="9525">
                <a:solidFill>
                  <a:schemeClr val="tx1">
                    <a:lumMod val="15000"/>
                    <a:lumOff val="85000"/>
                  </a:schemeClr>
                </a:solidFill>
              </a:ln>
              <a:effectLst/>
            </c:spPr>
          </c:upBars>
          <c:downBars>
            <c:spPr>
              <a:solidFill>
                <a:schemeClr val="dk1">
                  <a:lumMod val="65000"/>
                  <a:lumOff val="35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c:spPr>
          </c:downBars>
        </c:upDownBars>
        <c:smooth val="0"/>
        <c:axId val="1995014399"/>
        <c:axId val="1410549759"/>
      </c:lineChart>
      <c:catAx>
        <c:axId val="1995014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0549759"/>
        <c:crosses val="autoZero"/>
        <c:auto val="1"/>
        <c:lblAlgn val="ctr"/>
        <c:lblOffset val="100"/>
        <c:noMultiLvlLbl val="0"/>
      </c:catAx>
      <c:valAx>
        <c:axId val="14105497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5014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74642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6354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0240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273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3573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7462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019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1418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850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207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899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5773806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972958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8934102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105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6679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7855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86327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20680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05277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84880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37295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18989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62835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3534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162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033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00A0-D2C3-4400-82DE-E8035569E69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9A36-E718-4F6D-9C1B-1D8E32FCCAA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99141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52" r:id="rId9"/>
    <p:sldLayoutId id="2147484153" r:id="rId10"/>
    <p:sldLayoutId id="2147484154" r:id="rId11"/>
    <p:sldLayoutId id="2147484155" r:id="rId12"/>
    <p:sldLayoutId id="2147484156" r:id="rId13"/>
    <p:sldLayoutId id="2147484157" r:id="rId14"/>
    <p:sldLayoutId id="2147484158" r:id="rId15"/>
    <p:sldLayoutId id="2147484159" r:id="rId16"/>
    <p:sldLayoutId id="2147484160" r:id="rId17"/>
    <p:sldLayoutId id="2147484161" r:id="rId18"/>
    <p:sldLayoutId id="2147484162" r:id="rId19"/>
    <p:sldLayoutId id="2147484163" r:id="rId20"/>
    <p:sldLayoutId id="2147484164" r:id="rId21"/>
    <p:sldLayoutId id="2147484165" r:id="rId22"/>
    <p:sldLayoutId id="2147484166" r:id="rId23"/>
    <p:sldLayoutId id="2147484167" r:id="rId24"/>
    <p:sldLayoutId id="2147484168" r:id="rId25"/>
    <p:sldLayoutId id="2147484169" r:id="rId26"/>
    <p:sldLayoutId id="2147484170" r:id="rId27"/>
    <p:sldLayoutId id="2147484171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forthwithlife/36745826313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0780-FFB7-B200-5D5C-200EDD405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776" y="1648919"/>
            <a:ext cx="12426846" cy="32078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/>
              <a:t>Bellabeat</a:t>
            </a:r>
            <a:r>
              <a:rPr lang="en-US" sz="3600" dirty="0"/>
              <a:t> -  Smart Device Usage Analysis</a:t>
            </a:r>
            <a:br>
              <a:rPr lang="en-US" sz="2800" dirty="0"/>
            </a:br>
            <a:br>
              <a:rPr lang="en-US" sz="3000" dirty="0"/>
            </a:br>
            <a:r>
              <a:rPr lang="en-US" sz="1800" u="sng" dirty="0"/>
              <a:t>Google Data Analytics Capstone Project </a:t>
            </a:r>
            <a:r>
              <a:rPr lang="en-US" sz="1800" u="sng" kern="1200" dirty="0"/>
              <a:t> 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749B4B38-D8C9-E582-52AD-EC764FB2B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63938"/>
            <a:ext cx="10835639" cy="79286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b="1" cap="all" spc="300" dirty="0"/>
              <a:t>Prepared by : Chandru m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b="1" cap="all" spc="300" dirty="0"/>
              <a:t>Tools Used – Excel, SQL(big Query)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35A40E-D917-E630-2DE2-2CDFFA3F1A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071" b="12597"/>
          <a:stretch>
            <a:fillRect/>
          </a:stretch>
        </p:blipFill>
        <p:spPr>
          <a:xfrm>
            <a:off x="20" y="1"/>
            <a:ext cx="12191979" cy="29530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716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11C8-1255-EF71-1622-0FEF14FB4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67" y="-434715"/>
            <a:ext cx="10835639" cy="1319510"/>
          </a:xfrm>
        </p:spPr>
        <p:txBody>
          <a:bodyPr/>
          <a:lstStyle/>
          <a:p>
            <a:r>
              <a:rPr lang="en-US" sz="4400" dirty="0"/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3EEEC-BB61-25A6-6816-731785328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300" y="585867"/>
            <a:ext cx="10835639" cy="4595110"/>
          </a:xfrm>
        </p:spPr>
        <p:txBody>
          <a:bodyPr/>
          <a:lstStyle/>
          <a:p>
            <a:r>
              <a:rPr lang="en-US" b="1" dirty="0"/>
              <a:t>Key findings :</a:t>
            </a:r>
          </a:p>
          <a:p>
            <a:endParaRPr lang="en-US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analysis found that users recorded an average of 6,547 steps per day, which is below the commonly used 10,000-step benchmark.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around 43% of recorded days had fewer than 5,000 steps, showing an opportunity to encourage users to move more.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activity levels changed throughout the day, with higher step counts around noon and 7 PM.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/>
              <a:t>tuesday</a:t>
            </a:r>
            <a:r>
              <a:rPr lang="en-US" dirty="0"/>
              <a:t> had the highest share of low-activity records, while Wednesday had the lowest.</a:t>
            </a:r>
          </a:p>
          <a:p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C841B08-EE4E-55D9-72B8-B81AC12FD53C}"/>
              </a:ext>
            </a:extLst>
          </p:cNvPr>
          <p:cNvSpPr txBox="1">
            <a:spLocks/>
          </p:cNvSpPr>
          <p:nvPr/>
        </p:nvSpPr>
        <p:spPr>
          <a:xfrm>
            <a:off x="653133" y="1606445"/>
            <a:ext cx="10835639" cy="45951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322C502-893F-74BD-2493-DC4D2CF9F4C6}"/>
              </a:ext>
            </a:extLst>
          </p:cNvPr>
          <p:cNvSpPr txBox="1">
            <a:spLocks/>
          </p:cNvSpPr>
          <p:nvPr/>
        </p:nvSpPr>
        <p:spPr>
          <a:xfrm>
            <a:off x="1014207" y="5251555"/>
            <a:ext cx="10729398" cy="8794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Key recommendation : </a:t>
            </a:r>
            <a:r>
              <a:rPr lang="en-US" b="1" dirty="0" err="1"/>
              <a:t>Bellabeat</a:t>
            </a:r>
            <a:r>
              <a:rPr lang="en-US" b="1" dirty="0"/>
              <a:t> could encourage users to stay active through personalized reminders, daily step goals, and activity suggestions at suitable times</a:t>
            </a:r>
            <a:r>
              <a:rPr lang="en-US" dirty="0"/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02E7F3-1939-CDF1-009E-30F05EACC5CB}"/>
              </a:ext>
            </a:extLst>
          </p:cNvPr>
          <p:cNvCxnSpPr/>
          <p:nvPr/>
        </p:nvCxnSpPr>
        <p:spPr>
          <a:xfrm>
            <a:off x="0" y="101933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639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E84705-3145-5D19-3CA2-9ECC34F05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180" y="4880911"/>
            <a:ext cx="10835639" cy="373766"/>
          </a:xfrm>
        </p:spPr>
        <p:txBody>
          <a:bodyPr/>
          <a:lstStyle/>
          <a:p>
            <a:r>
              <a:rPr lang="en-US" b="1" dirty="0"/>
              <a:t>About the data :</a:t>
            </a:r>
          </a:p>
          <a:p>
            <a:r>
              <a:rPr lang="en-US" dirty="0"/>
              <a:t>This analysis uses Fitbit smart-device data to understand users' daily activity patterns and identify opportunities for </a:t>
            </a:r>
            <a:r>
              <a:rPr lang="en-US" dirty="0" err="1"/>
              <a:t>Bellabeat</a:t>
            </a:r>
            <a:r>
              <a:rPr lang="en-US" dirty="0"/>
              <a:t> to improve its wellness experience.</a:t>
            </a:r>
          </a:p>
          <a:p>
            <a:endParaRPr lang="en-US" dirty="0"/>
          </a:p>
          <a:p>
            <a:r>
              <a:rPr lang="en-US" b="1" dirty="0"/>
              <a:t>Dataset details :</a:t>
            </a:r>
          </a:p>
          <a:p>
            <a:pPr lvl="0"/>
            <a:r>
              <a:rPr lang="en-US" dirty="0"/>
              <a:t>35 users included in the daily activity dataset.</a:t>
            </a:r>
          </a:p>
          <a:p>
            <a:pPr lvl="0"/>
            <a:r>
              <a:rPr lang="en-US" dirty="0"/>
              <a:t>457 records covering March 12 to April 12, 2016.</a:t>
            </a:r>
          </a:p>
          <a:p>
            <a:pPr lvl="0"/>
            <a:r>
              <a:rPr lang="en-US" dirty="0"/>
              <a:t>Data includes daily steps, distance, calories burned, and activity levels.</a:t>
            </a:r>
          </a:p>
          <a:p>
            <a:pPr lvl="0"/>
            <a:r>
              <a:rPr lang="en-US" dirty="0"/>
              <a:t>Excel and SQL  were used to explore and analyze the data.</a:t>
            </a:r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956EA7-4DF1-D681-95A9-D719B93D8104}"/>
              </a:ext>
            </a:extLst>
          </p:cNvPr>
          <p:cNvSpPr txBox="1">
            <a:spLocks/>
          </p:cNvSpPr>
          <p:nvPr/>
        </p:nvSpPr>
        <p:spPr>
          <a:xfrm>
            <a:off x="323349" y="0"/>
            <a:ext cx="10835639" cy="9289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Data overview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8D83190-2A00-2203-E451-2BA6789C7A62}"/>
              </a:ext>
            </a:extLst>
          </p:cNvPr>
          <p:cNvSpPr txBox="1">
            <a:spLocks/>
          </p:cNvSpPr>
          <p:nvPr/>
        </p:nvSpPr>
        <p:spPr>
          <a:xfrm>
            <a:off x="995472" y="6202544"/>
            <a:ext cx="10835639" cy="3737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Objective : </a:t>
            </a:r>
            <a:r>
              <a:rPr lang="en-US" dirty="0"/>
              <a:t>To understand users' activity habits and suggest ways </a:t>
            </a:r>
            <a:r>
              <a:rPr lang="en-US" dirty="0" err="1"/>
              <a:t>Bellabeat</a:t>
            </a:r>
            <a:r>
              <a:rPr lang="en-US" dirty="0"/>
              <a:t> could encourage a more active lifestyle</a:t>
            </a:r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93D14-DEB4-7BC9-660D-82E54A08D4F9}"/>
              </a:ext>
            </a:extLst>
          </p:cNvPr>
          <p:cNvCxnSpPr/>
          <p:nvPr/>
        </p:nvCxnSpPr>
        <p:spPr>
          <a:xfrm>
            <a:off x="0" y="101933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357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276CA9E-C7E7-0F9D-5784-B1F103A9FA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7197559"/>
              </p:ext>
            </p:extLst>
          </p:nvPr>
        </p:nvGraphicFramePr>
        <p:xfrm>
          <a:off x="0" y="134911"/>
          <a:ext cx="6096000" cy="4471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950C06A-4A59-4205-9CBA-1813D3F8AE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7761225"/>
              </p:ext>
            </p:extLst>
          </p:nvPr>
        </p:nvGraphicFramePr>
        <p:xfrm>
          <a:off x="5752506" y="134911"/>
          <a:ext cx="6439494" cy="4242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ubtitle 2">
            <a:extLst>
              <a:ext uri="{FF2B5EF4-FFF2-40B4-BE49-F238E27FC236}">
                <a16:creationId xmlns:a16="http://schemas.microsoft.com/office/drawing/2014/main" id="{F9DB0980-5DEE-A6E6-D2EA-7396C8769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336" y="6464508"/>
            <a:ext cx="4863248" cy="517161"/>
          </a:xfrm>
        </p:spPr>
        <p:txBody>
          <a:bodyPr/>
          <a:lstStyle/>
          <a:p>
            <a:r>
              <a:rPr lang="en-US" sz="1600" dirty="0"/>
              <a:t>                    </a:t>
            </a:r>
            <a:r>
              <a:rPr lang="en-US" sz="1600" b="1" dirty="0"/>
              <a:t>Daily Activity Levels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43.1% of recorded days had lower than 5k steps, while only 27.8% reached 10k steps or more.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Bellabeat</a:t>
            </a:r>
            <a:r>
              <a:rPr lang="en-US" sz="1600" dirty="0"/>
              <a:t> could encourage users to increase their daily steps through achievable goals and regular reminders.</a:t>
            </a:r>
          </a:p>
          <a:p>
            <a:endParaRPr lang="en-US" sz="160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79BCD92-C6D0-42AD-210E-0813C958AD9F}"/>
              </a:ext>
            </a:extLst>
          </p:cNvPr>
          <p:cNvSpPr txBox="1">
            <a:spLocks/>
          </p:cNvSpPr>
          <p:nvPr/>
        </p:nvSpPr>
        <p:spPr>
          <a:xfrm>
            <a:off x="6841572" y="6464507"/>
            <a:ext cx="4863248" cy="5171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            </a:t>
            </a:r>
            <a:r>
              <a:rPr lang="en-US" sz="1600" b="1" dirty="0"/>
              <a:t>Average Steps by Hour of the Day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Activity peaked around noon and 7 PM, while the lowest activity was recorded during the early morning hours.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Bellabeat</a:t>
            </a:r>
            <a:r>
              <a:rPr lang="en-US" sz="1600" dirty="0"/>
              <a:t> could test sending movement reminders during less active periods to encourage users to move more.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3246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30FEAD-24CF-C807-093A-5A8A25C3E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136" y="5924860"/>
            <a:ext cx="4863248" cy="517161"/>
          </a:xfrm>
        </p:spPr>
        <p:txBody>
          <a:bodyPr/>
          <a:lstStyle/>
          <a:p>
            <a:r>
              <a:rPr lang="en-US" sz="1600" b="1" dirty="0"/>
              <a:t>           Low-Activity Records by Weekday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Tuesday had the highest share of low-activity records at 52.1%, followed by Sunday at 50%.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Wednesday had the lowest share at 31.3%, showing that low activity varied across the week.</a:t>
            </a:r>
          </a:p>
          <a:p>
            <a:endParaRPr lang="en-US" sz="16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54D8B6E-2BE9-1368-833B-68AFC54B74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6605363"/>
              </p:ext>
            </p:extLst>
          </p:nvPr>
        </p:nvGraphicFramePr>
        <p:xfrm>
          <a:off x="27482" y="273568"/>
          <a:ext cx="5483902" cy="3683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ECA88AD-E219-4DB6-5CF3-C40004C848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0937609"/>
              </p:ext>
            </p:extLst>
          </p:nvPr>
        </p:nvGraphicFramePr>
        <p:xfrm>
          <a:off x="5483902" y="273568"/>
          <a:ext cx="6708098" cy="3683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ubtitle 2">
            <a:extLst>
              <a:ext uri="{FF2B5EF4-FFF2-40B4-BE49-F238E27FC236}">
                <a16:creationId xmlns:a16="http://schemas.microsoft.com/office/drawing/2014/main" id="{73D6EA8D-4957-6EC2-A3B0-F9CFCE853BE5}"/>
              </a:ext>
            </a:extLst>
          </p:cNvPr>
          <p:cNvSpPr txBox="1">
            <a:spLocks/>
          </p:cNvSpPr>
          <p:nvPr/>
        </p:nvSpPr>
        <p:spPr>
          <a:xfrm>
            <a:off x="6406327" y="5527620"/>
            <a:ext cx="4863248" cy="5171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                Daily Average Steps Over Time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Average daily steps fluctuated throughout the month, with several rises and drops.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Activity was generally higher in early April than during some days in March, although there were a few sharp dips.</a:t>
            </a:r>
          </a:p>
        </p:txBody>
      </p:sp>
    </p:spTree>
    <p:extLst>
      <p:ext uri="{BB962C8B-B14F-4D97-AF65-F5344CB8AC3E}">
        <p14:creationId xmlns:p14="http://schemas.microsoft.com/office/powerpoint/2010/main" val="1559053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F40DFA-0FA8-0AE0-0B2E-31C2662E3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896" y="5150733"/>
            <a:ext cx="10924207" cy="553017"/>
          </a:xfrm>
        </p:spPr>
        <p:txBody>
          <a:bodyPr/>
          <a:lstStyle/>
          <a:p>
            <a:r>
              <a:rPr lang="en-US" b="1" dirty="0"/>
              <a:t>1. Set achievable daily goals</a:t>
            </a:r>
          </a:p>
          <a:p>
            <a:r>
              <a:rPr lang="en-US" dirty="0"/>
              <a:t>Encourage users to gradually increase their daily steps through realistic, personalized targets.</a:t>
            </a:r>
          </a:p>
          <a:p>
            <a:r>
              <a:rPr lang="en-US" b="1" dirty="0"/>
              <a:t>2. Send timely reminders</a:t>
            </a:r>
          </a:p>
          <a:p>
            <a:r>
              <a:rPr lang="en-US" dirty="0"/>
              <a:t>Test movement reminders during less active periods to encourage users to take short walks.</a:t>
            </a:r>
          </a:p>
          <a:p>
            <a:r>
              <a:rPr lang="en-US" b="1" dirty="0"/>
              <a:t>3. Personalize the experience</a:t>
            </a:r>
          </a:p>
          <a:p>
            <a:r>
              <a:rPr lang="en-US" dirty="0"/>
              <a:t>Use activity patterns to suggest goals and reminders that suit different user habits.</a:t>
            </a:r>
          </a:p>
          <a:p>
            <a:r>
              <a:rPr lang="en-US" b="1" dirty="0"/>
              <a:t>4. Encourage consistency</a:t>
            </a:r>
          </a:p>
          <a:p>
            <a:r>
              <a:rPr lang="en-US" dirty="0"/>
              <a:t>Introduce weekly progress updates to help users track their activity and stay motivated.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ED07F5-77F1-342B-0AE1-EB6BA6280389}"/>
              </a:ext>
            </a:extLst>
          </p:cNvPr>
          <p:cNvSpPr txBox="1">
            <a:spLocks/>
          </p:cNvSpPr>
          <p:nvPr/>
        </p:nvSpPr>
        <p:spPr>
          <a:xfrm>
            <a:off x="323349" y="0"/>
            <a:ext cx="10835639" cy="9289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Recommendations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60E87F-814A-D04B-8EBF-D19A73DDC86B}"/>
              </a:ext>
            </a:extLst>
          </p:cNvPr>
          <p:cNvCxnSpPr/>
          <p:nvPr/>
        </p:nvCxnSpPr>
        <p:spPr>
          <a:xfrm>
            <a:off x="0" y="101933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85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F423-AABB-BDFD-1798-F23221AEA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6E281A-1E66-F685-E771-E7358DDC7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975" y="4745999"/>
            <a:ext cx="10924207" cy="553017"/>
          </a:xfrm>
        </p:spPr>
        <p:txBody>
          <a:bodyPr/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The analysis shows that daily activity varies across users, weekdays, and hours. </a:t>
            </a:r>
            <a:r>
              <a:rPr lang="en-US" dirty="0" err="1"/>
              <a:t>Bellabeat</a:t>
            </a:r>
            <a:r>
              <a:rPr lang="en-US" dirty="0"/>
              <a:t> could use these insights to test personalized goals and reminders that encourage users to move more.</a:t>
            </a:r>
          </a:p>
          <a:p>
            <a:endParaRPr lang="en-US" dirty="0"/>
          </a:p>
          <a:p>
            <a:r>
              <a:rPr lang="en-US" b="1" dirty="0"/>
              <a:t>Limitations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analysis covers only 35 users over one month.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data is from 2016 and may not reflect current user habits.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findings show activity patterns but do not explain why users behave this way.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results may not represent all </a:t>
            </a:r>
            <a:r>
              <a:rPr lang="en-US" dirty="0" err="1"/>
              <a:t>Bellabeat</a:t>
            </a:r>
            <a:r>
              <a:rPr lang="en-US" dirty="0"/>
              <a:t> customers.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6214A2-2E8E-3013-4094-B3771EAC60F7}"/>
              </a:ext>
            </a:extLst>
          </p:cNvPr>
          <p:cNvSpPr txBox="1">
            <a:spLocks/>
          </p:cNvSpPr>
          <p:nvPr/>
        </p:nvSpPr>
        <p:spPr>
          <a:xfrm>
            <a:off x="323349" y="0"/>
            <a:ext cx="10835639" cy="9289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Conclusion and Limitations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BE4F0C-9D36-F53D-A9F7-DA249E625D4A}"/>
              </a:ext>
            </a:extLst>
          </p:cNvPr>
          <p:cNvCxnSpPr/>
          <p:nvPr/>
        </p:nvCxnSpPr>
        <p:spPr>
          <a:xfrm>
            <a:off x="0" y="101933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90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61BB1-AD23-BE3C-B2E6-54BCA7F09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anchor="b">
            <a:normAutofit/>
          </a:bodyPr>
          <a:lstStyle/>
          <a:p>
            <a:r>
              <a:rPr lang="en-US" dirty="0"/>
              <a:t>  Thank you :)</a:t>
            </a:r>
            <a:br>
              <a:rPr lang="en-US" dirty="0"/>
            </a:br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9BC15590-F1C5-A28E-3051-B411D24B7ED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266" r="18867"/>
          <a:stretch>
            <a:fillRect/>
          </a:stretch>
        </p:blipFill>
        <p:spPr>
          <a:xfrm>
            <a:off x="20" y="10"/>
            <a:ext cx="7617765" cy="6857990"/>
          </a:xfrm>
          <a:noFill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1B6A44E-77E4-6A19-985E-20C9444D0CD5}"/>
              </a:ext>
            </a:extLst>
          </p:cNvPr>
          <p:cNvSpPr txBox="1"/>
          <p:nvPr/>
        </p:nvSpPr>
        <p:spPr>
          <a:xfrm>
            <a:off x="5115177" y="6657945"/>
            <a:ext cx="250260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flickr.com/photos/forthwithlife/36745826313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986752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58</TotalTime>
  <Words>601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Bjorn</vt:lpstr>
      <vt:lpstr>Bellabeat -  Smart Device Usage Analysis  Google Data Analytics Capstone Project  </vt:lpstr>
      <vt:lpstr>Executive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Thank you :)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Chandru M</dc:creator>
  <cp:lastModifiedBy>Chandru M</cp:lastModifiedBy>
  <cp:revision>1</cp:revision>
  <dcterms:created xsi:type="dcterms:W3CDTF">2026-10-28T19:44:04Z</dcterms:created>
  <dcterms:modified xsi:type="dcterms:W3CDTF">2026-10-28T20:42:35Z</dcterms:modified>
</cp:coreProperties>
</file>